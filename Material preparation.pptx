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A855-CE1B-2DCB-E90F-BAEDAEF09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3B34E-BB74-B78C-4DB5-479041D4A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A9100-02F4-ABE0-C3EE-E6EF396B7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A9928-CA2C-0E96-C5D4-64B89C71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59A05-42E4-5940-053C-66F3B5CA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7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AB6E-E219-0CEF-3231-FBE8889A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D2069-1CBF-DA2E-6DA3-EF03FFAB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BEFE5-60D9-B83A-EF9D-3EE5A5D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F041D-0127-3AB0-FDE7-A39C0BB2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A9BA6-2AC7-1FFB-2986-285D4DCB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5092-0BB9-53AD-67ED-262EB7B0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F2617-447A-E695-C375-4C04EFACE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5E512-BC7E-D6DC-168A-42680848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DFD54-D4F5-DEE8-A781-1C5B3E63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4A44F-44A0-55DB-048C-DE0EA4AA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0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6467-12F9-48F2-17A4-A41844BC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5D52-1C86-C8EF-BFEF-E06887015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B8902-1E5A-B41E-0CDC-3D71F2534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881B4-A21B-88F9-83DA-131920DA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01D70-3A02-ECC9-398A-910209B9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BF71C-E5EA-3DCD-135F-E25A5B89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2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C649-0855-9682-D607-78BF7E7F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45344-8D5D-2868-BA12-98DF829E9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FEB90-3E23-FC14-DDF2-77429C734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33B5C1-9D53-49E0-AF25-4D744E8F2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3EE12-D683-569A-288A-80ECDDC608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2B21A7-2B84-76E1-FCBD-19C8533ED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33205-076C-7E90-AA47-99953A63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16645-60B8-60C2-67D7-40F52332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1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6A6CB-E74E-B473-0EA8-C43AC809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3B9A3-0649-989F-1091-3E05C66E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F7BB1-0D78-1ADE-BDEE-E1AAB21D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ED5BB-A1A7-E534-478B-4CCE5EB9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6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199C8-923E-68D2-C4F1-16C306A01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7D44F-6101-848E-EAF0-6F13C4F8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2D98E-D4DF-9CF5-4758-80ADC3AE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92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6778-E212-52FE-CD5D-3CD073DA8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FB38D-1194-5C3E-BAF1-F30479136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66B16-9559-894E-CCF7-88A2FD6E5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9AE54-0270-52C5-4627-EA328D1C3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DB5D2-351E-1E10-BDE1-CD95853D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3C920-264F-BCB0-43CA-3F5F6962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3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B0A6-F714-663A-E01A-5385F720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73BF1-1ABA-8AAB-4549-6E516E04B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82701-2250-1ED5-59AF-7863FE51B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3C329-475F-E188-FBC6-C48EE01B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85FE1-5BDA-EA1A-4090-4407A66E4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955E6-8979-D6AA-0716-65CAD396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6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B934-FA4C-14C3-7463-CE1D5CEF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BA865-6AA6-F392-F0E3-323A97424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2BE38-70EB-EB78-386F-E7390FA3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A89A7-8D21-0817-F8F2-D04F9A4B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27EC1-E623-20A0-DAFF-FA84C765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6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328CC-954E-6E33-FDF9-1EDAA6DD8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A6F41-EE43-7FB4-20D6-C4BEA87A4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D67CE-E01F-99C3-B35B-0CE07BB9E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1B346-8264-6DBE-7DA3-FCE1FD10E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3DA6-6502-6659-231A-A9BE566F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1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6FA202-64C7-1E28-4C94-ACE49D79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CA6DF-26D5-0869-C6F1-CA7819659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D89E1-0028-5EB6-A9AE-401361273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3B6C9-6907-4155-B5B1-EF3D094328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C6E8-E35D-6362-F9AB-B822C1888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8DE00-1694-B89C-E5EC-CECDBA74C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42A75-A244-40CB-B24B-3FF32CA12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3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BCE950-59E7-1FF6-EAEF-FA9602DF8E72}"/>
              </a:ext>
            </a:extLst>
          </p:cNvPr>
          <p:cNvSpPr txBox="1"/>
          <p:nvPr/>
        </p:nvSpPr>
        <p:spPr>
          <a:xfrm>
            <a:off x="3243718" y="1149028"/>
            <a:ext cx="54626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Material preparation</a:t>
            </a:r>
          </a:p>
          <a:p>
            <a:endParaRPr lang="en-US" b="1" dirty="0"/>
          </a:p>
          <a:p>
            <a:r>
              <a:rPr lang="en-US" dirty="0"/>
              <a:t>1. SMT -</a:t>
            </a:r>
            <a:r>
              <a:rPr lang="en-US" dirty="0" err="1"/>
              <a:t>eero</a:t>
            </a:r>
            <a:r>
              <a:rPr lang="en-US" dirty="0"/>
              <a:t> BOM – Indented </a:t>
            </a:r>
          </a:p>
          <a:p>
            <a:r>
              <a:rPr lang="en-US" dirty="0"/>
              <a:t>2. SMT - </a:t>
            </a:r>
            <a:r>
              <a:rPr lang="en-US" dirty="0" err="1"/>
              <a:t>eero</a:t>
            </a:r>
            <a:r>
              <a:rPr lang="en-US" dirty="0"/>
              <a:t> BOM – Sourcing </a:t>
            </a:r>
          </a:p>
          <a:p>
            <a:r>
              <a:rPr lang="en-US" dirty="0"/>
              <a:t>3. SMT Build Matrix – (NPI Phase)</a:t>
            </a:r>
          </a:p>
          <a:p>
            <a:r>
              <a:rPr lang="en-US" dirty="0"/>
              <a:t>4. SMT- CM BOM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716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DCF5E-454A-F407-A24A-6ADF8C8CE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9A8883-FFF3-996B-C6E1-9CAAA0BB55BA}"/>
              </a:ext>
            </a:extLst>
          </p:cNvPr>
          <p:cNvSpPr txBox="1"/>
          <p:nvPr/>
        </p:nvSpPr>
        <p:spPr>
          <a:xfrm>
            <a:off x="101600" y="22199"/>
            <a:ext cx="331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Material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D8AEA-8EFF-8CE2-6103-686050371390}"/>
              </a:ext>
            </a:extLst>
          </p:cNvPr>
          <p:cNvSpPr txBox="1"/>
          <p:nvPr/>
        </p:nvSpPr>
        <p:spPr>
          <a:xfrm>
            <a:off x="101599" y="391531"/>
            <a:ext cx="3310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SMT -</a:t>
            </a:r>
            <a:r>
              <a:rPr lang="en-US" b="1" dirty="0" err="1"/>
              <a:t>eero</a:t>
            </a:r>
            <a:r>
              <a:rPr lang="en-US" b="1" dirty="0"/>
              <a:t> BOM – Indented</a:t>
            </a:r>
          </a:p>
          <a:p>
            <a:r>
              <a:rPr lang="en-US" dirty="0"/>
              <a:t>Download from Arena.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C2FAF5-AF74-87EB-F5C7-6B5051F91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" y="1127903"/>
            <a:ext cx="11988801" cy="230109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4AFC33-64E7-CBFF-FE6D-6C83099529D2}"/>
              </a:ext>
            </a:extLst>
          </p:cNvPr>
          <p:cNvCxnSpPr/>
          <p:nvPr/>
        </p:nvCxnSpPr>
        <p:spPr>
          <a:xfrm flipH="1">
            <a:off x="982133" y="1625600"/>
            <a:ext cx="1134534" cy="72813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6250B7-475A-20F3-BEEC-7C0D7CF02258}"/>
              </a:ext>
            </a:extLst>
          </p:cNvPr>
          <p:cNvCxnSpPr>
            <a:cxnSpLocks/>
          </p:cNvCxnSpPr>
          <p:nvPr/>
        </p:nvCxnSpPr>
        <p:spPr>
          <a:xfrm flipV="1">
            <a:off x="-29183" y="2692628"/>
            <a:ext cx="327137" cy="73637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EE8030F-0E46-FB0E-D41B-43551FBAF5D3}"/>
              </a:ext>
            </a:extLst>
          </p:cNvPr>
          <p:cNvSpPr/>
          <p:nvPr/>
        </p:nvSpPr>
        <p:spPr>
          <a:xfrm>
            <a:off x="2116667" y="1439694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E40770-60C0-7593-CDA8-E58123859E07}"/>
              </a:ext>
            </a:extLst>
          </p:cNvPr>
          <p:cNvSpPr/>
          <p:nvPr/>
        </p:nvSpPr>
        <p:spPr>
          <a:xfrm>
            <a:off x="-65753" y="3338959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95012A-7F7C-FED4-246B-FAD0796017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94" t="-964" r="-164" b="18031"/>
          <a:stretch>
            <a:fillRect/>
          </a:stretch>
        </p:blipFill>
        <p:spPr>
          <a:xfrm>
            <a:off x="4640094" y="3747782"/>
            <a:ext cx="4231531" cy="292646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97A276-9691-76CB-F240-7A400F995FE2}"/>
              </a:ext>
            </a:extLst>
          </p:cNvPr>
          <p:cNvCxnSpPr>
            <a:cxnSpLocks/>
          </p:cNvCxnSpPr>
          <p:nvPr/>
        </p:nvCxnSpPr>
        <p:spPr>
          <a:xfrm>
            <a:off x="10369685" y="883404"/>
            <a:ext cx="1003750" cy="74219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6283BA8-4C41-A73F-C31F-19358F839308}"/>
              </a:ext>
            </a:extLst>
          </p:cNvPr>
          <p:cNvSpPr/>
          <p:nvPr/>
        </p:nvSpPr>
        <p:spPr>
          <a:xfrm>
            <a:off x="10034982" y="671114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4E8F38-B9E4-55BE-5711-662ED772A311}"/>
              </a:ext>
            </a:extLst>
          </p:cNvPr>
          <p:cNvCxnSpPr>
            <a:cxnSpLocks/>
          </p:cNvCxnSpPr>
          <p:nvPr/>
        </p:nvCxnSpPr>
        <p:spPr>
          <a:xfrm flipV="1">
            <a:off x="7360596" y="4923487"/>
            <a:ext cx="327137" cy="73637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582B687-CFB3-7040-993B-BBA071E6C3FF}"/>
              </a:ext>
            </a:extLst>
          </p:cNvPr>
          <p:cNvSpPr/>
          <p:nvPr/>
        </p:nvSpPr>
        <p:spPr>
          <a:xfrm>
            <a:off x="7324026" y="5569818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EF60EF2-83C5-8C7E-B627-9222FA2AD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479" y="3551249"/>
            <a:ext cx="2117328" cy="314036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B0E2C0-7270-45FC-1C51-85327434E9BD}"/>
              </a:ext>
            </a:extLst>
          </p:cNvPr>
          <p:cNvCxnSpPr>
            <a:cxnSpLocks/>
          </p:cNvCxnSpPr>
          <p:nvPr/>
        </p:nvCxnSpPr>
        <p:spPr>
          <a:xfrm>
            <a:off x="9533107" y="5603498"/>
            <a:ext cx="1003750" cy="74219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DAE463B-70E5-2FEC-2BA5-D7894F7F0C7B}"/>
              </a:ext>
            </a:extLst>
          </p:cNvPr>
          <p:cNvSpPr/>
          <p:nvPr/>
        </p:nvSpPr>
        <p:spPr>
          <a:xfrm>
            <a:off x="9198404" y="5391208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0637DB5-7784-D557-AD02-947FC5070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54" y="4033162"/>
            <a:ext cx="3881156" cy="1061623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2A145AD-DE84-D1F0-F916-3C6930331B71}"/>
              </a:ext>
            </a:extLst>
          </p:cNvPr>
          <p:cNvCxnSpPr>
            <a:cxnSpLocks/>
          </p:cNvCxnSpPr>
          <p:nvPr/>
        </p:nvCxnSpPr>
        <p:spPr>
          <a:xfrm flipV="1">
            <a:off x="396552" y="5104879"/>
            <a:ext cx="327137" cy="73637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E1E489B-58AC-BA60-9CD1-C079FF0B47A2}"/>
              </a:ext>
            </a:extLst>
          </p:cNvPr>
          <p:cNvSpPr/>
          <p:nvPr/>
        </p:nvSpPr>
        <p:spPr>
          <a:xfrm>
            <a:off x="359982" y="5751210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C61DED-23AE-36B1-F0F5-CFFFEAEB6F0C}"/>
              </a:ext>
            </a:extLst>
          </p:cNvPr>
          <p:cNvSpPr txBox="1"/>
          <p:nvPr/>
        </p:nvSpPr>
        <p:spPr>
          <a:xfrm>
            <a:off x="723688" y="5725748"/>
            <a:ext cx="2703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Rename it to “</a:t>
            </a:r>
            <a:r>
              <a:rPr lang="en-US" dirty="0" err="1"/>
              <a:t>eero</a:t>
            </a:r>
            <a:r>
              <a:rPr lang="en-US" dirty="0"/>
              <a:t> BOM – Indented”</a:t>
            </a:r>
          </a:p>
        </p:txBody>
      </p:sp>
    </p:spTree>
    <p:extLst>
      <p:ext uri="{BB962C8B-B14F-4D97-AF65-F5344CB8AC3E}">
        <p14:creationId xmlns:p14="http://schemas.microsoft.com/office/powerpoint/2010/main" val="54553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AE61-31D6-5866-9A98-6B7C9E4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733AE17-4429-EB43-1398-E3587458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316" y="3551249"/>
            <a:ext cx="2875844" cy="32289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F9E847-DCDC-DFE3-7881-61C3CE5D1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82" y="1031263"/>
            <a:ext cx="11540246" cy="23646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99EFAF-694E-CB86-B20F-80452ADD4FC9}"/>
              </a:ext>
            </a:extLst>
          </p:cNvPr>
          <p:cNvSpPr txBox="1"/>
          <p:nvPr/>
        </p:nvSpPr>
        <p:spPr>
          <a:xfrm>
            <a:off x="101600" y="22199"/>
            <a:ext cx="331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Material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17D62-08F8-7089-E79A-1B1D5C3A0054}"/>
              </a:ext>
            </a:extLst>
          </p:cNvPr>
          <p:cNvSpPr txBox="1"/>
          <p:nvPr/>
        </p:nvSpPr>
        <p:spPr>
          <a:xfrm>
            <a:off x="101599" y="391531"/>
            <a:ext cx="3310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SMT - </a:t>
            </a:r>
            <a:r>
              <a:rPr lang="en-US" b="1" dirty="0" err="1"/>
              <a:t>eero</a:t>
            </a:r>
            <a:r>
              <a:rPr lang="en-US" b="1" dirty="0"/>
              <a:t> BOM – Sourcing</a:t>
            </a:r>
          </a:p>
          <a:p>
            <a:r>
              <a:rPr lang="en-US" dirty="0"/>
              <a:t>Download from Arena.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95DF1F-377D-B860-B241-058535C86A38}"/>
              </a:ext>
            </a:extLst>
          </p:cNvPr>
          <p:cNvCxnSpPr/>
          <p:nvPr/>
        </p:nvCxnSpPr>
        <p:spPr>
          <a:xfrm flipH="1">
            <a:off x="1103998" y="1485434"/>
            <a:ext cx="1134534" cy="72813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B5A3BB-AEA0-C416-880B-2F089041113D}"/>
              </a:ext>
            </a:extLst>
          </p:cNvPr>
          <p:cNvCxnSpPr>
            <a:cxnSpLocks/>
          </p:cNvCxnSpPr>
          <p:nvPr/>
        </p:nvCxnSpPr>
        <p:spPr>
          <a:xfrm flipV="1">
            <a:off x="940429" y="2542297"/>
            <a:ext cx="327137" cy="73637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15EDD34-2C7A-267A-4BFD-126C15E6D7D9}"/>
              </a:ext>
            </a:extLst>
          </p:cNvPr>
          <p:cNvSpPr/>
          <p:nvPr/>
        </p:nvSpPr>
        <p:spPr>
          <a:xfrm>
            <a:off x="2238532" y="1299528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9F51DE-F449-66B8-85A3-90D935F7B783}"/>
              </a:ext>
            </a:extLst>
          </p:cNvPr>
          <p:cNvSpPr/>
          <p:nvPr/>
        </p:nvSpPr>
        <p:spPr>
          <a:xfrm>
            <a:off x="903859" y="3188628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CEAFDE-4B44-98FC-A3D7-C958B0655DEB}"/>
              </a:ext>
            </a:extLst>
          </p:cNvPr>
          <p:cNvCxnSpPr>
            <a:cxnSpLocks/>
          </p:cNvCxnSpPr>
          <p:nvPr/>
        </p:nvCxnSpPr>
        <p:spPr>
          <a:xfrm>
            <a:off x="10369685" y="883404"/>
            <a:ext cx="1003750" cy="74219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3974554-706B-7807-5DFE-051A765B8233}"/>
              </a:ext>
            </a:extLst>
          </p:cNvPr>
          <p:cNvSpPr/>
          <p:nvPr/>
        </p:nvSpPr>
        <p:spPr>
          <a:xfrm>
            <a:off x="10034982" y="671114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E9197D-AC22-F86E-DB6C-AD7AD098B7BE}"/>
              </a:ext>
            </a:extLst>
          </p:cNvPr>
          <p:cNvCxnSpPr>
            <a:cxnSpLocks/>
          </p:cNvCxnSpPr>
          <p:nvPr/>
        </p:nvCxnSpPr>
        <p:spPr>
          <a:xfrm flipV="1">
            <a:off x="7681609" y="4252279"/>
            <a:ext cx="327137" cy="73637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1AD5CA7-118F-0766-824A-EBC5A493E6ED}"/>
              </a:ext>
            </a:extLst>
          </p:cNvPr>
          <p:cNvSpPr/>
          <p:nvPr/>
        </p:nvSpPr>
        <p:spPr>
          <a:xfrm>
            <a:off x="7645039" y="4898610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2CA8C06-8FB1-EB1F-11CA-0D1E7CAC8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479" y="3551249"/>
            <a:ext cx="2117328" cy="314036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69C31F-F810-2D72-FCD8-F1C12053B52F}"/>
              </a:ext>
            </a:extLst>
          </p:cNvPr>
          <p:cNvCxnSpPr>
            <a:cxnSpLocks/>
          </p:cNvCxnSpPr>
          <p:nvPr/>
        </p:nvCxnSpPr>
        <p:spPr>
          <a:xfrm>
            <a:off x="9533107" y="5603498"/>
            <a:ext cx="1003750" cy="74219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EC3E9C5-CA0B-B379-714E-E870EDF8CF72}"/>
              </a:ext>
            </a:extLst>
          </p:cNvPr>
          <p:cNvSpPr/>
          <p:nvPr/>
        </p:nvSpPr>
        <p:spPr>
          <a:xfrm>
            <a:off x="9198404" y="5391208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0ADCA86-106B-411A-5A2D-BE853B7CA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54" y="4033162"/>
            <a:ext cx="3881156" cy="1061623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8402CA-4997-A417-FA5A-4A03889AC843}"/>
              </a:ext>
            </a:extLst>
          </p:cNvPr>
          <p:cNvCxnSpPr>
            <a:cxnSpLocks/>
          </p:cNvCxnSpPr>
          <p:nvPr/>
        </p:nvCxnSpPr>
        <p:spPr>
          <a:xfrm flipV="1">
            <a:off x="396552" y="5104879"/>
            <a:ext cx="327137" cy="73637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789B290-8D35-1BA0-CC1D-024439F2D964}"/>
              </a:ext>
            </a:extLst>
          </p:cNvPr>
          <p:cNvSpPr/>
          <p:nvPr/>
        </p:nvSpPr>
        <p:spPr>
          <a:xfrm>
            <a:off x="359982" y="5751210"/>
            <a:ext cx="334703" cy="3345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548183-E9B2-E0C0-A575-5F7B03D555BC}"/>
              </a:ext>
            </a:extLst>
          </p:cNvPr>
          <p:cNvSpPr txBox="1"/>
          <p:nvPr/>
        </p:nvSpPr>
        <p:spPr>
          <a:xfrm>
            <a:off x="723688" y="5725748"/>
            <a:ext cx="2703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Rename it to “</a:t>
            </a:r>
            <a:r>
              <a:rPr lang="en-US" dirty="0" err="1"/>
              <a:t>eero</a:t>
            </a:r>
            <a:r>
              <a:rPr lang="en-US" dirty="0"/>
              <a:t> BOM – Sourcing”</a:t>
            </a:r>
          </a:p>
        </p:txBody>
      </p:sp>
    </p:spTree>
    <p:extLst>
      <p:ext uri="{BB962C8B-B14F-4D97-AF65-F5344CB8AC3E}">
        <p14:creationId xmlns:p14="http://schemas.microsoft.com/office/powerpoint/2010/main" val="3774369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E873-A0F3-21EC-24FC-F3E48EB6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42ED8E-14A3-CBDD-8A36-558DDA8D9BEA}"/>
              </a:ext>
            </a:extLst>
          </p:cNvPr>
          <p:cNvSpPr txBox="1"/>
          <p:nvPr/>
        </p:nvSpPr>
        <p:spPr>
          <a:xfrm>
            <a:off x="101600" y="22199"/>
            <a:ext cx="331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Material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9FABC-5B07-607D-E0FF-94A5693B7200}"/>
              </a:ext>
            </a:extLst>
          </p:cNvPr>
          <p:cNvSpPr txBox="1"/>
          <p:nvPr/>
        </p:nvSpPr>
        <p:spPr>
          <a:xfrm>
            <a:off x="101598" y="940768"/>
            <a:ext cx="10714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SMT - Build Matrix</a:t>
            </a:r>
          </a:p>
          <a:p>
            <a:r>
              <a:rPr lang="en-US" dirty="0"/>
              <a:t>Download &amp; save it to your PC</a:t>
            </a:r>
          </a:p>
          <a:p>
            <a:r>
              <a:rPr lang="en-US" dirty="0"/>
              <a:t>. If you want to compare BOM with Config A in the Build Matrix </a:t>
            </a:r>
            <a:r>
              <a:rPr lang="en-US" dirty="0">
                <a:sym typeface="Wingdings" panose="05000000000000000000" pitchFamily="2" charset="2"/>
              </a:rPr>
              <a:t> Please choose the sheet of that Config and choose the Config which you want to compare.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CC70DF-EA4A-9529-C804-B121AB6785C3}"/>
              </a:ext>
            </a:extLst>
          </p:cNvPr>
          <p:cNvSpPr txBox="1"/>
          <p:nvPr/>
        </p:nvSpPr>
        <p:spPr>
          <a:xfrm>
            <a:off x="206691" y="4826225"/>
            <a:ext cx="3310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 SMT - CM BOM</a:t>
            </a:r>
          </a:p>
          <a:p>
            <a:r>
              <a:rPr lang="en-US" dirty="0"/>
              <a:t>Download &amp; save it to your PC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77BDD-B3DD-62EE-A47F-A9F3C23A1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609" y="2022682"/>
            <a:ext cx="2574318" cy="3215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30B14F-CE48-FE6C-3DFE-536455A5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330" y="2019168"/>
            <a:ext cx="3103361" cy="3219432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8435615-98C1-42F3-0030-421336961CBA}"/>
              </a:ext>
            </a:extLst>
          </p:cNvPr>
          <p:cNvSpPr/>
          <p:nvPr/>
        </p:nvSpPr>
        <p:spPr>
          <a:xfrm rot="16200000">
            <a:off x="4365636" y="2543072"/>
            <a:ext cx="375139" cy="9847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73CD9EE-E514-9EE0-6DC9-AA478BD0064D}"/>
              </a:ext>
            </a:extLst>
          </p:cNvPr>
          <p:cNvSpPr/>
          <p:nvPr/>
        </p:nvSpPr>
        <p:spPr>
          <a:xfrm rot="5400000">
            <a:off x="11217940" y="2033141"/>
            <a:ext cx="392306" cy="8276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52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2148</TotalTime>
  <Words>149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HT</dc:creator>
  <cp:lastModifiedBy>Hoang, HT</cp:lastModifiedBy>
  <cp:revision>7</cp:revision>
  <dcterms:created xsi:type="dcterms:W3CDTF">2026-03-26T08:31:07Z</dcterms:created>
  <dcterms:modified xsi:type="dcterms:W3CDTF">2026-05-11T03:29:05Z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2026-03-26T09:14:28Z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44bbc026-8170-460d-9363-a989cf4ac4c1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